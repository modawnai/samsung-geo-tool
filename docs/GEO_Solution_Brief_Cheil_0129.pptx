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401" r:id="rId3"/>
    <p:sldId id="399" r:id="rId4"/>
    <p:sldId id="402" r:id="rId5"/>
    <p:sldId id="404" r:id="rId6"/>
    <p:sldId id="405" r:id="rId7"/>
    <p:sldId id="38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E7FF"/>
    <a:srgbClr val="0086FA"/>
    <a:srgbClr val="77B6FE"/>
    <a:srgbClr val="1D85FD"/>
    <a:srgbClr val="0066F3"/>
    <a:srgbClr val="FF6100"/>
    <a:srgbClr val="FF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49" autoAdjust="0"/>
    <p:restoredTop sz="95320" autoAdjust="0"/>
  </p:normalViewPr>
  <p:slideViewPr>
    <p:cSldViewPr snapToGrid="0" showGuides="1">
      <p:cViewPr varScale="1">
        <p:scale>
          <a:sx n="114" d="100"/>
          <a:sy n="114" d="100"/>
        </p:scale>
        <p:origin x="930" y="114"/>
      </p:cViewPr>
      <p:guideLst>
        <p:guide orient="horz" pos="1661"/>
        <p:guide pos="3840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53670-A13E-409F-A063-3B831C408426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CA3EC-C322-409F-8567-87001611C3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49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3E98E-2709-4215-A0D0-9F90E336CF1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403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CA3EC-C322-409F-8567-87001611C3F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46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CA3EC-C322-409F-8567-87001611C3F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47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CA3EC-C322-409F-8567-87001611C3F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17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CA3EC-C322-409F-8567-87001611C3F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490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CA3EC-C322-409F-8567-87001611C3F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914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053" y="2657725"/>
            <a:ext cx="11355147" cy="2195512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4800">
                <a:ln w="1270">
                  <a:solidFill>
                    <a:schemeClr val="bg1">
                      <a:alpha val="10000"/>
                    </a:schemeClr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t="100000" r="100000"/>
                  </a:path>
                </a:gradFill>
                <a:latin typeface="Samsung Sharp Sans Bold" pitchFamily="2" charset="0"/>
              </a:defRPr>
            </a:lvl1pPr>
          </a:lstStyle>
          <a:p>
            <a:pPr lvl="0"/>
            <a:endParaRPr kumimoji="1" lang="en-US" altLang="ja-JP" dirty="0"/>
          </a:p>
          <a:p>
            <a:pPr lvl="0"/>
            <a:r>
              <a:rPr kumimoji="1" lang="en-US" altLang="ja-JP" dirty="0"/>
              <a:t>Edit Master</a:t>
            </a:r>
          </a:p>
          <a:p>
            <a:pPr lvl="0"/>
            <a:r>
              <a:rPr kumimoji="1" lang="en-US" altLang="ja-JP" dirty="0"/>
              <a:t>text style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-733929" y="-529388"/>
            <a:ext cx="12710160" cy="7279104"/>
          </a:xfrm>
          <a:prstGeom prst="roundRect">
            <a:avLst>
              <a:gd name="adj" fmla="val 8494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msung Sharp Sans Regular"/>
              <a:ea typeface="SamsungOneKoreanOTF 400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58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053" y="2657725"/>
            <a:ext cx="11355147" cy="2195512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4800">
                <a:ln w="1270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  <a:p>
            <a:pPr lvl="0"/>
            <a:r>
              <a:rPr kumimoji="1" lang="en-US" altLang="ja-JP" dirty="0"/>
              <a:t>Edit Master</a:t>
            </a:r>
          </a:p>
          <a:p>
            <a:pPr lvl="0"/>
            <a:r>
              <a:rPr kumimoji="1" lang="en-US" altLang="ja-JP" dirty="0"/>
              <a:t>text style</a:t>
            </a:r>
          </a:p>
        </p:txBody>
      </p:sp>
    </p:spTree>
    <p:extLst>
      <p:ext uri="{BB962C8B-B14F-4D97-AF65-F5344CB8AC3E}">
        <p14:creationId xmlns:p14="http://schemas.microsoft.com/office/powerpoint/2010/main" val="130259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5"/>
          </p:nvPr>
        </p:nvSpPr>
        <p:spPr>
          <a:xfrm>
            <a:off x="309161" y="655872"/>
            <a:ext cx="11184280" cy="512002"/>
          </a:xfrm>
          <a:prstGeom prst="rect">
            <a:avLst/>
          </a:prstGeom>
        </p:spPr>
        <p:txBody>
          <a:bodyPr lIns="0" tIns="46800" rIns="0" bIns="46800" anchor="t">
            <a:noAutofit/>
          </a:bodyPr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n w="1270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Samsung Sharp Sans Bold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15" name="내용 개체 틀 2"/>
          <p:cNvSpPr>
            <a:spLocks noGrp="1"/>
          </p:cNvSpPr>
          <p:nvPr>
            <p:ph idx="16"/>
          </p:nvPr>
        </p:nvSpPr>
        <p:spPr>
          <a:xfrm>
            <a:off x="336457" y="1125085"/>
            <a:ext cx="11184280" cy="512002"/>
          </a:xfrm>
          <a:prstGeom prst="rect">
            <a:avLst/>
          </a:prstGeom>
        </p:spPr>
        <p:txBody>
          <a:bodyPr lIns="0" tIns="46800" rIns="0" bIns="46800" anchor="t">
            <a:noAutofit/>
          </a:bodyPr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 sz="1400" kern="0" dirty="0">
                <a:ln w="1270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B04197-F177-DC4E-8A9E-6FCBD9E91EFF}"/>
              </a:ext>
            </a:extLst>
          </p:cNvPr>
          <p:cNvSpPr txBox="1">
            <a:spLocks/>
          </p:cNvSpPr>
          <p:nvPr userDrawn="1"/>
        </p:nvSpPr>
        <p:spPr>
          <a:xfrm>
            <a:off x="11520736" y="482844"/>
            <a:ext cx="367977" cy="120639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latinLnBrk="0"/>
            <a:fld id="{7BCC8D0D-EAEC-449D-9161-023DFF90F2E2}" type="slidenum">
              <a:rPr lang="en-US" sz="800" b="0" i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  <a:ea typeface="+mn-ea"/>
                <a:cs typeface="Samsung Sharp Sans Bold" pitchFamily="2" charset="0"/>
              </a:rPr>
              <a:pPr algn="r" latinLnBrk="0"/>
              <a:t>‹#›</a:t>
            </a:fld>
            <a:endParaRPr lang="en-US" sz="800" b="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  <a:ea typeface="+mn-ea"/>
              <a:cs typeface="SamsungSharpSans-Medium" pitchFamily="2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E52BE67-58E7-66F0-8C15-81303E50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57" y="387954"/>
            <a:ext cx="10656539" cy="288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latinLnBrk="0">
              <a:defRPr lang="ko-KR" altLang="en-US" sz="1200" kern="1200" dirty="0">
                <a:ln w="1270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SamsungSharpSans-Medium" pitchFamily="2" charset="0"/>
              </a:defRPr>
            </a:lvl1pPr>
          </a:lstStyle>
          <a:p>
            <a:pPr marL="0" lvl="0" algn="l" defTabSz="914400" rtl="0" eaLnBrk="1" latinLnBrk="1" hangingPunct="1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-72193" y="-48126"/>
            <a:ext cx="13234739" cy="7567864"/>
          </a:xfrm>
          <a:prstGeom prst="roundRect">
            <a:avLst>
              <a:gd name="adj" fmla="val 13104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140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pos="3840">
          <p15:clr>
            <a:srgbClr val="FBAE40"/>
          </p15:clr>
        </p15:guide>
        <p15:guide id="7" pos="7469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 rot="5400000">
            <a:off x="2664419" y="-2664421"/>
            <a:ext cx="6858000" cy="1218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/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" name="한쪽 모서리가 둥근 사각형 1"/>
          <p:cNvSpPr/>
          <p:nvPr userDrawn="1"/>
        </p:nvSpPr>
        <p:spPr>
          <a:xfrm rot="16200000" flipV="1">
            <a:off x="2664419" y="-2664420"/>
            <a:ext cx="6857999" cy="12186840"/>
          </a:xfrm>
          <a:prstGeom prst="round1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1" name="슬라이드 번호 개체 틀 16"/>
          <p:cNvSpPr>
            <a:spLocks noGrp="1"/>
          </p:cNvSpPr>
          <p:nvPr>
            <p:ph type="sldNum" sz="quarter" idx="4"/>
          </p:nvPr>
        </p:nvSpPr>
        <p:spPr>
          <a:xfrm>
            <a:off x="11353682" y="69"/>
            <a:ext cx="83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+mn-ea"/>
                <a:ea typeface="+mn-ea"/>
                <a:cs typeface="Samsung Sharp Sans Medium" pitchFamily="2" charset="0"/>
              </a:defRPr>
            </a:lvl1pPr>
          </a:lstStyle>
          <a:p>
            <a:fld id="{E57ADEE5-2007-40F3-BEB7-1B8CA8FA33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내용 개체 틀 2"/>
          <p:cNvSpPr>
            <a:spLocks noGrp="1"/>
          </p:cNvSpPr>
          <p:nvPr>
            <p:ph sz="quarter" idx="13"/>
          </p:nvPr>
        </p:nvSpPr>
        <p:spPr>
          <a:xfrm>
            <a:off x="319909" y="503869"/>
            <a:ext cx="4612081" cy="267092"/>
          </a:xfrm>
          <a:prstGeom prst="rect">
            <a:avLst/>
          </a:prstGeom>
        </p:spPr>
        <p:txBody>
          <a:bodyPr/>
          <a:lstStyle>
            <a:lvl1pPr>
              <a:defRPr lang="ko-KR" altLang="en-US" sz="1400" dirty="0">
                <a:solidFill>
                  <a:schemeClr val="tx1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marL="0" lvl="0" indent="0">
              <a:buNone/>
            </a:pPr>
            <a:endParaRPr lang="ko-KR" altLang="en-US" dirty="0"/>
          </a:p>
        </p:txBody>
      </p:sp>
      <p:sp>
        <p:nvSpPr>
          <p:cNvPr id="16" name="텍스트 개체 틀 29"/>
          <p:cNvSpPr>
            <a:spLocks noGrp="1"/>
          </p:cNvSpPr>
          <p:nvPr>
            <p:ph type="body" sz="quarter" idx="14" hasCustomPrompt="1"/>
          </p:nvPr>
        </p:nvSpPr>
        <p:spPr>
          <a:xfrm>
            <a:off x="315610" y="833309"/>
            <a:ext cx="11546190" cy="6033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3200" kern="100" dirty="0">
                <a:solidFill>
                  <a:schemeClr val="tx1"/>
                </a:solidFill>
                <a:latin typeface="+mj-lt"/>
                <a:ea typeface="+mj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</a:p>
          <a:p>
            <a:pPr lvl="0"/>
            <a:endParaRPr lang="ko-KR" altLang="en-US" dirty="0"/>
          </a:p>
        </p:txBody>
      </p:sp>
      <p:sp>
        <p:nvSpPr>
          <p:cNvPr id="10" name="텍스트 개체 틀 29"/>
          <p:cNvSpPr>
            <a:spLocks noGrp="1"/>
          </p:cNvSpPr>
          <p:nvPr>
            <p:ph type="body" sz="quarter" idx="15" hasCustomPrompt="1"/>
          </p:nvPr>
        </p:nvSpPr>
        <p:spPr>
          <a:xfrm>
            <a:off x="315610" y="1491078"/>
            <a:ext cx="11546190" cy="6033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1800" kern="100" dirty="0">
                <a:solidFill>
                  <a:schemeClr val="tx1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63234" y="1437711"/>
            <a:ext cx="50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슬라이드 번호 개체 틀 16"/>
          <p:cNvSpPr txBox="1">
            <a:spLocks/>
          </p:cNvSpPr>
          <p:nvPr userDrawn="1"/>
        </p:nvSpPr>
        <p:spPr>
          <a:xfrm>
            <a:off x="4944022" y="6491543"/>
            <a:ext cx="2303956" cy="366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Samsung Sharp Sans Medium" pitchFamily="2" charset="0"/>
                <a:ea typeface="+mn-ea"/>
                <a:cs typeface="Samsung Sharp Sans Medium" pitchFamily="2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n-lt"/>
                <a:ea typeface="+mn-ea"/>
              </a:rPr>
              <a:t>Bloom</a:t>
            </a:r>
            <a:r>
              <a:rPr lang="en-US" altLang="ko-KR" baseline="0" dirty="0">
                <a:latin typeface="+mn-lt"/>
                <a:ea typeface="+mn-ea"/>
              </a:rPr>
              <a:t> TF</a:t>
            </a:r>
            <a:endParaRPr lang="ko-KR" altLang="en-US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2554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 rot="5400000">
            <a:off x="2669580" y="-2664421"/>
            <a:ext cx="6858000" cy="121868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/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" name="한쪽 모서리가 둥근 사각형 1"/>
          <p:cNvSpPr/>
          <p:nvPr userDrawn="1"/>
        </p:nvSpPr>
        <p:spPr>
          <a:xfrm rot="16200000" flipV="1">
            <a:off x="2664419" y="-2664420"/>
            <a:ext cx="6857999" cy="12186840"/>
          </a:xfrm>
          <a:prstGeom prst="round1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1" name="슬라이드 번호 개체 틀 16"/>
          <p:cNvSpPr>
            <a:spLocks noGrp="1"/>
          </p:cNvSpPr>
          <p:nvPr>
            <p:ph type="sldNum" sz="quarter" idx="4"/>
          </p:nvPr>
        </p:nvSpPr>
        <p:spPr>
          <a:xfrm>
            <a:off x="11353682" y="69"/>
            <a:ext cx="83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ea"/>
                <a:ea typeface="+mn-ea"/>
                <a:cs typeface="Samsung Sharp Sans Medium" pitchFamily="2" charset="0"/>
              </a:defRPr>
            </a:lvl1pPr>
          </a:lstStyle>
          <a:p>
            <a:fld id="{E57ADEE5-2007-40F3-BEB7-1B8CA8FA33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슬라이드 번호 개체 틀 16"/>
          <p:cNvSpPr txBox="1">
            <a:spLocks/>
          </p:cNvSpPr>
          <p:nvPr userDrawn="1"/>
        </p:nvSpPr>
        <p:spPr>
          <a:xfrm>
            <a:off x="4944022" y="6491543"/>
            <a:ext cx="2303956" cy="366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Samsung Sharp Sans Medium" pitchFamily="2" charset="0"/>
                <a:ea typeface="+mn-ea"/>
                <a:cs typeface="Samsung Sharp Sans Medium" pitchFamily="2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latin typeface="+mn-lt"/>
                <a:ea typeface="+mn-ea"/>
              </a:rPr>
              <a:t>Cheil</a:t>
            </a:r>
            <a:r>
              <a:rPr lang="ko-KR" altLang="en-US" dirty="0">
                <a:latin typeface="+mn-lt"/>
                <a:ea typeface="+mn-ea"/>
              </a:rPr>
              <a:t> </a:t>
            </a:r>
            <a:r>
              <a:rPr lang="en-US" altLang="ko-KR" dirty="0">
                <a:latin typeface="+mn-lt"/>
                <a:ea typeface="+mn-ea"/>
              </a:rPr>
              <a:t>Worldwide</a:t>
            </a:r>
          </a:p>
        </p:txBody>
      </p:sp>
      <p:sp>
        <p:nvSpPr>
          <p:cNvPr id="14" name="내용 개체 틀 2"/>
          <p:cNvSpPr>
            <a:spLocks noGrp="1"/>
          </p:cNvSpPr>
          <p:nvPr>
            <p:ph sz="quarter" idx="13"/>
          </p:nvPr>
        </p:nvSpPr>
        <p:spPr>
          <a:xfrm>
            <a:off x="319909" y="503869"/>
            <a:ext cx="4612081" cy="267092"/>
          </a:xfrm>
          <a:prstGeom prst="rect">
            <a:avLst/>
          </a:prstGeom>
        </p:spPr>
        <p:txBody>
          <a:bodyPr/>
          <a:lstStyle>
            <a:lvl1pPr>
              <a:defRPr lang="ko-KR" altLang="en-US" sz="1400" dirty="0">
                <a:solidFill>
                  <a:schemeClr val="accent2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marL="0" lvl="0" indent="0">
              <a:buNone/>
            </a:pPr>
            <a:endParaRPr lang="ko-KR" altLang="en-US" dirty="0"/>
          </a:p>
        </p:txBody>
      </p:sp>
      <p:sp>
        <p:nvSpPr>
          <p:cNvPr id="16" name="텍스트 개체 틀 29"/>
          <p:cNvSpPr>
            <a:spLocks noGrp="1"/>
          </p:cNvSpPr>
          <p:nvPr>
            <p:ph type="body" sz="quarter" idx="14" hasCustomPrompt="1"/>
          </p:nvPr>
        </p:nvSpPr>
        <p:spPr>
          <a:xfrm>
            <a:off x="315610" y="833309"/>
            <a:ext cx="11546190" cy="6033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3200" kern="100" dirty="0">
                <a:solidFill>
                  <a:schemeClr val="tx1"/>
                </a:solidFill>
                <a:latin typeface="+mj-lt"/>
                <a:ea typeface="+mj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</a:p>
          <a:p>
            <a:pPr lvl="0"/>
            <a:endParaRPr lang="ko-KR" altLang="en-US" dirty="0"/>
          </a:p>
        </p:txBody>
      </p:sp>
      <p:sp>
        <p:nvSpPr>
          <p:cNvPr id="10" name="텍스트 개체 틀 29"/>
          <p:cNvSpPr>
            <a:spLocks noGrp="1"/>
          </p:cNvSpPr>
          <p:nvPr>
            <p:ph type="body" sz="quarter" idx="15" hasCustomPrompt="1"/>
          </p:nvPr>
        </p:nvSpPr>
        <p:spPr>
          <a:xfrm>
            <a:off x="315610" y="1494088"/>
            <a:ext cx="11546190" cy="9773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1800" kern="100" dirty="0">
                <a:solidFill>
                  <a:schemeClr val="tx1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63234" y="1437711"/>
            <a:ext cx="50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0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 rot="5400000">
            <a:off x="2669580" y="-2664421"/>
            <a:ext cx="6858000" cy="121868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/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" name="한쪽 모서리가 둥근 사각형 1"/>
          <p:cNvSpPr/>
          <p:nvPr userDrawn="1"/>
        </p:nvSpPr>
        <p:spPr>
          <a:xfrm rot="16200000" flipV="1">
            <a:off x="2664420" y="-2664420"/>
            <a:ext cx="6857999" cy="12186840"/>
          </a:xfrm>
          <a:prstGeom prst="round1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1" name="슬라이드 번호 개체 틀 16"/>
          <p:cNvSpPr>
            <a:spLocks noGrp="1"/>
          </p:cNvSpPr>
          <p:nvPr>
            <p:ph type="sldNum" sz="quarter" idx="4"/>
          </p:nvPr>
        </p:nvSpPr>
        <p:spPr>
          <a:xfrm>
            <a:off x="11353682" y="69"/>
            <a:ext cx="83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ea"/>
                <a:ea typeface="+mn-ea"/>
                <a:cs typeface="Samsung Sharp Sans Medium" pitchFamily="2" charset="0"/>
              </a:defRPr>
            </a:lvl1pPr>
          </a:lstStyle>
          <a:p>
            <a:fld id="{E57ADEE5-2007-40F3-BEB7-1B8CA8FA33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슬라이드 번호 개체 틀 16"/>
          <p:cNvSpPr txBox="1">
            <a:spLocks/>
          </p:cNvSpPr>
          <p:nvPr userDrawn="1"/>
        </p:nvSpPr>
        <p:spPr>
          <a:xfrm>
            <a:off x="4944022" y="6491543"/>
            <a:ext cx="2303956" cy="366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Samsung Sharp Sans Medium" pitchFamily="2" charset="0"/>
                <a:ea typeface="+mn-ea"/>
                <a:cs typeface="Samsung Sharp Sans Medium" pitchFamily="2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n-lt"/>
                <a:ea typeface="+mn-ea"/>
              </a:rPr>
              <a:t>Bloom</a:t>
            </a:r>
            <a:r>
              <a:rPr lang="en-US" altLang="ko-KR" baseline="0" dirty="0">
                <a:latin typeface="+mn-lt"/>
                <a:ea typeface="+mn-ea"/>
              </a:rPr>
              <a:t> TF</a:t>
            </a: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14" name="내용 개체 틀 2"/>
          <p:cNvSpPr>
            <a:spLocks noGrp="1"/>
          </p:cNvSpPr>
          <p:nvPr>
            <p:ph sz="quarter" idx="13"/>
          </p:nvPr>
        </p:nvSpPr>
        <p:spPr>
          <a:xfrm>
            <a:off x="319909" y="503869"/>
            <a:ext cx="4612081" cy="267092"/>
          </a:xfrm>
          <a:prstGeom prst="rect">
            <a:avLst/>
          </a:prstGeom>
        </p:spPr>
        <p:txBody>
          <a:bodyPr/>
          <a:lstStyle>
            <a:lvl1pPr>
              <a:defRPr lang="ko-KR" altLang="en-US" sz="1400" dirty="0">
                <a:solidFill>
                  <a:schemeClr val="accent2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marL="0" lvl="0" indent="0">
              <a:buNone/>
            </a:pPr>
            <a:endParaRPr lang="ko-KR" altLang="en-US" dirty="0"/>
          </a:p>
        </p:txBody>
      </p:sp>
      <p:sp>
        <p:nvSpPr>
          <p:cNvPr id="16" name="텍스트 개체 틀 29"/>
          <p:cNvSpPr>
            <a:spLocks noGrp="1"/>
          </p:cNvSpPr>
          <p:nvPr>
            <p:ph type="body" sz="quarter" idx="14" hasCustomPrompt="1"/>
          </p:nvPr>
        </p:nvSpPr>
        <p:spPr>
          <a:xfrm>
            <a:off x="315609" y="833309"/>
            <a:ext cx="2664000" cy="1300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3200" kern="100" dirty="0">
                <a:solidFill>
                  <a:schemeClr val="tx1"/>
                </a:solidFill>
                <a:latin typeface="+mj-lt"/>
                <a:ea typeface="+mj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</a:p>
          <a:p>
            <a:pPr lvl="0"/>
            <a:endParaRPr lang="ko-KR" altLang="en-US" dirty="0"/>
          </a:p>
        </p:txBody>
      </p:sp>
      <p:sp>
        <p:nvSpPr>
          <p:cNvPr id="10" name="텍스트 개체 틀 29"/>
          <p:cNvSpPr>
            <a:spLocks noGrp="1"/>
          </p:cNvSpPr>
          <p:nvPr>
            <p:ph type="body" sz="quarter" idx="15" hasCustomPrompt="1"/>
          </p:nvPr>
        </p:nvSpPr>
        <p:spPr>
          <a:xfrm>
            <a:off x="315610" y="3094288"/>
            <a:ext cx="2664000" cy="21063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1600" kern="100" dirty="0">
                <a:solidFill>
                  <a:schemeClr val="tx1"/>
                </a:solidFill>
                <a:latin typeface="+mn-ea"/>
                <a:ea typeface="+mn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363234" y="3047436"/>
            <a:ext cx="50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87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 rot="5400000">
            <a:off x="2669580" y="-2664421"/>
            <a:ext cx="6858000" cy="12186839"/>
          </a:xfrm>
          <a:prstGeom prst="rect">
            <a:avLst/>
          </a:prstGeom>
          <a:solidFill>
            <a:schemeClr val="accent2"/>
          </a:solidFill>
          <a:effectLst/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" name="한쪽 모서리가 둥근 사각형 1"/>
          <p:cNvSpPr/>
          <p:nvPr userDrawn="1"/>
        </p:nvSpPr>
        <p:spPr>
          <a:xfrm rot="16200000" flipV="1">
            <a:off x="2664419" y="-2664420"/>
            <a:ext cx="6857999" cy="12186840"/>
          </a:xfrm>
          <a:prstGeom prst="round1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프리젠테이션 7 Bold" pitchFamily="2" charset="-127"/>
              <a:ea typeface="프리젠테이션 7 Bold" pitchFamily="2" charset="-127"/>
              <a:cs typeface="Samsung Sharp Sans Bold" pitchFamily="2" charset="0"/>
            </a:endParaRPr>
          </a:p>
        </p:txBody>
      </p:sp>
      <p:sp>
        <p:nvSpPr>
          <p:cNvPr id="21" name="슬라이드 번호 개체 틀 16"/>
          <p:cNvSpPr>
            <a:spLocks noGrp="1"/>
          </p:cNvSpPr>
          <p:nvPr>
            <p:ph type="sldNum" sz="quarter" idx="4"/>
          </p:nvPr>
        </p:nvSpPr>
        <p:spPr>
          <a:xfrm>
            <a:off x="11353682" y="69"/>
            <a:ext cx="838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+mn-ea"/>
                <a:ea typeface="+mn-ea"/>
                <a:cs typeface="Samsung Sharp Sans Medium" pitchFamily="2" charset="0"/>
              </a:defRPr>
            </a:lvl1pPr>
          </a:lstStyle>
          <a:p>
            <a:fld id="{E57ADEE5-2007-40F3-BEB7-1B8CA8FA33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슬라이드 번호 개체 틀 16"/>
          <p:cNvSpPr txBox="1">
            <a:spLocks/>
          </p:cNvSpPr>
          <p:nvPr userDrawn="1"/>
        </p:nvSpPr>
        <p:spPr>
          <a:xfrm>
            <a:off x="4944022" y="6491543"/>
            <a:ext cx="2303956" cy="366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Samsung Sharp Sans Medium" pitchFamily="2" charset="0"/>
                <a:ea typeface="+mn-ea"/>
                <a:cs typeface="Samsung Sharp Sans Medium" pitchFamily="2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+mn-lt"/>
                <a:ea typeface="+mn-ea"/>
              </a:rPr>
              <a:t>Bloom</a:t>
            </a:r>
            <a:r>
              <a:rPr lang="en-US" altLang="ko-KR" baseline="0" dirty="0">
                <a:latin typeface="+mn-lt"/>
                <a:ea typeface="+mn-ea"/>
              </a:rPr>
              <a:t> TF</a:t>
            </a: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16" name="텍스트 개체 틀 29"/>
          <p:cNvSpPr>
            <a:spLocks noGrp="1"/>
          </p:cNvSpPr>
          <p:nvPr>
            <p:ph type="body" sz="quarter" idx="14" hasCustomPrompt="1"/>
          </p:nvPr>
        </p:nvSpPr>
        <p:spPr>
          <a:xfrm>
            <a:off x="315610" y="393695"/>
            <a:ext cx="11546190" cy="6033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ko-KR" altLang="en-US" sz="1800" kern="100" dirty="0">
                <a:solidFill>
                  <a:schemeClr val="accent2"/>
                </a:solidFill>
                <a:latin typeface="+mj-lt"/>
                <a:ea typeface="+mj-ea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XXXXXXXX</a:t>
            </a:r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207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278C1-3967-B042-A119-19B630EA0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053" y="2657725"/>
            <a:ext cx="11355147" cy="2195512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4800">
                <a:ln w="1270"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  <a:p>
            <a:pPr lvl="0"/>
            <a:r>
              <a:rPr kumimoji="1" lang="en-US" altLang="ja-JP" dirty="0"/>
              <a:t>Edit Master</a:t>
            </a:r>
          </a:p>
          <a:p>
            <a:pPr lvl="0"/>
            <a:r>
              <a:rPr kumimoji="1" lang="en-US" altLang="ja-JP" dirty="0"/>
              <a:t>text style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309780" y="264939"/>
            <a:ext cx="12710160" cy="7279104"/>
          </a:xfrm>
          <a:prstGeom prst="roundRect">
            <a:avLst>
              <a:gd name="adj" fmla="val 84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msung Sharp Sans Regular"/>
              <a:ea typeface="SamsungOneKoreanOTF 400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179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11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0" r:id="rId6"/>
    <p:sldLayoutId id="2147483669" r:id="rId7"/>
    <p:sldLayoutId id="2147483668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37C32E-7F2E-964D-AC08-CD8DCEEA25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053" y="2048125"/>
            <a:ext cx="11355147" cy="2195512"/>
          </a:xfrm>
        </p:spPr>
        <p:txBody>
          <a:bodyPr anchor="ctr"/>
          <a:lstStyle/>
          <a:p>
            <a:r>
              <a:rPr kumimoji="1" lang="en-US" altLang="ko-KR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msung SS Head Bold" pitchFamily="2" charset="0"/>
                <a:cs typeface="Samsung SS Head Bold" pitchFamily="2" charset="0"/>
              </a:rPr>
              <a:t>MX Social</a:t>
            </a:r>
            <a:endParaRPr kumimoji="1" lang="en-US" altLang="ko-KR" sz="4400" dirty="0">
              <a:solidFill>
                <a:schemeClr val="tx1"/>
              </a:solidFill>
              <a:latin typeface="Samsung SS Head Bold" pitchFamily="2" charset="0"/>
              <a:ea typeface="+mj-ea"/>
              <a:cs typeface="Samsung SS Head Bold" pitchFamily="2" charset="0"/>
            </a:endParaRPr>
          </a:p>
          <a:p>
            <a:r>
              <a:rPr kumimoji="1" lang="en-US" altLang="ko-KR" sz="4400" dirty="0">
                <a:solidFill>
                  <a:schemeClr val="tx1"/>
                </a:solidFill>
                <a:latin typeface="Samsung SS Head Bold" pitchFamily="2" charset="0"/>
                <a:ea typeface="+mj-ea"/>
                <a:cs typeface="Samsung SS Head Bold" pitchFamily="2" charset="0"/>
              </a:rPr>
              <a:t>GEO Solution Additional Brief</a:t>
            </a:r>
            <a:endParaRPr kumimoji="1" lang="en-US" altLang="ko-KR" sz="4400" dirty="0">
              <a:solidFill>
                <a:schemeClr val="tx1"/>
              </a:solidFill>
              <a:latin typeface="Samsung SS Head KR Bold" pitchFamily="2" charset="-127"/>
              <a:ea typeface="Samsung SS Head KR Bold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EAFA0-A7A7-694A-9613-226983DBD399}"/>
              </a:ext>
            </a:extLst>
          </p:cNvPr>
          <p:cNvSpPr txBox="1">
            <a:spLocks/>
          </p:cNvSpPr>
          <p:nvPr/>
        </p:nvSpPr>
        <p:spPr>
          <a:xfrm>
            <a:off x="-232265" y="656681"/>
            <a:ext cx="2168888" cy="44608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 w="1270">
                  <a:solidFill>
                    <a:srgbClr val="000000">
                      <a:lumMod val="90000"/>
                      <a:lumOff val="10000"/>
                      <a:alpha val="1000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SamsungOneKoreanOTF 400"/>
                <a:ea typeface="SamsungOneKoreanOTF 400"/>
                <a:cs typeface="+mn-cs"/>
              </a:rPr>
              <a:t>2026. 01 |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5874F1-6F64-4993-9AB5-DD9253CB9B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6080759"/>
            <a:ext cx="1514475" cy="45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0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ADEE5-2007-40F3-BEB7-1B8CA8FA338A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OneKoreanOTF 400C"/>
                <a:ea typeface="SamsungOneKoreanOTF 400C"/>
                <a:cs typeface="Samsung Sharp Sans Medium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KoreanOTF 400C"/>
              <a:ea typeface="SamsungOneKoreanOTF 400C"/>
              <a:cs typeface="Samsung Sharp Sans Medium" pitchFamily="2" charset="0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Task</a:t>
            </a:r>
            <a:r>
              <a:rPr lang="ko-KR" altLang="en-US" dirty="0">
                <a:latin typeface="+mj-ea"/>
              </a:rPr>
              <a:t>│</a:t>
            </a:r>
            <a:endParaRPr lang="ko-KR" altLang="en-US" dirty="0">
              <a:latin typeface="Samsung SS Head Regular" pitchFamily="2" charset="0"/>
              <a:cs typeface="Samsung SS Head Regular" pitchFamily="2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latinLnBrk="0">
              <a:lnSpc>
                <a:spcPct val="100000"/>
              </a:lnSpc>
              <a:spcAft>
                <a:spcPts val="600"/>
              </a:spcAft>
            </a:pP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1. GEO </a:t>
            </a:r>
            <a:r>
              <a:rPr lang="ko-KR" altLang="en-US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검수 방식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채널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삼성 글로벌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YouTube/Instagram/</a:t>
            </a:r>
            <a:r>
              <a:rPr lang="en-US" altLang="ko-KR" sz="16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TikTok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내 무선 콘텐츠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(*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향후 로컬 </a:t>
            </a:r>
            <a:r>
              <a:rPr lang="ko-KR" altLang="en-US" sz="16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소셜채널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콘텐츠에도 적용 예정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</a:t>
            </a: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방식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보안이 중요한 콘텐츠들은 사후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그렇지 않은 콘텐츠들은 사전 검수 진행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&amp;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인풋에 </a:t>
            </a:r>
            <a:r>
              <a:rPr lang="ko-KR" altLang="en-US" sz="16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어셋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자체를 넣을지 등도 선택 가능하도록 개발</a:t>
            </a:r>
            <a:endParaRPr lang="en-US" altLang="ko-KR" sz="1600" dirty="0">
              <a:solidFill>
                <a:srgbClr val="000000"/>
              </a:solidFill>
              <a:latin typeface="Samsung SS Body KR Regular" pitchFamily="2" charset="-127"/>
              <a:ea typeface="Samsung SS Body KR Regular" pitchFamily="2" charset="-127"/>
            </a:endParaRP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u="sng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디스크립션의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경우 카피 </a:t>
            </a:r>
            <a:r>
              <a:rPr lang="ko-KR" altLang="en-US" sz="1600" u="sng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토날리티도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검수 진행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okayed / </a:t>
            </a:r>
            <a:r>
              <a:rPr lang="ko-KR" altLang="en-US" sz="1600" u="sng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디스크립션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카피 없는 상태에서도 카피 제안 가능</a:t>
            </a:r>
            <a:endParaRPr lang="ko-KR" altLang="en-US" sz="1600" u="sng" kern="1200" dirty="0">
              <a:solidFill>
                <a:srgbClr val="000000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9425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940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1AE6DA-E105-4AD3-9CCA-F8369F4D22FA}"/>
              </a:ext>
            </a:extLst>
          </p:cNvPr>
          <p:cNvSpPr/>
          <p:nvPr/>
        </p:nvSpPr>
        <p:spPr>
          <a:xfrm>
            <a:off x="528506" y="2968654"/>
            <a:ext cx="3221373" cy="1258349"/>
          </a:xfrm>
          <a:prstGeom prst="rect">
            <a:avLst/>
          </a:prstGeom>
          <a:solidFill>
            <a:srgbClr val="008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UNPK/Event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신제품 관련 콘텐츠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025972-D28C-46B4-A643-668C54316441}"/>
              </a:ext>
            </a:extLst>
          </p:cNvPr>
          <p:cNvSpPr/>
          <p:nvPr/>
        </p:nvSpPr>
        <p:spPr>
          <a:xfrm>
            <a:off x="3984770" y="2968654"/>
            <a:ext cx="3221373" cy="1258349"/>
          </a:xfrm>
          <a:prstGeom prst="rect">
            <a:avLst/>
          </a:prstGeom>
          <a:noFill/>
          <a:ln>
            <a:solidFill>
              <a:srgbClr val="008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사후 검수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C652082-F328-48B7-AE76-E2383311893F}"/>
              </a:ext>
            </a:extLst>
          </p:cNvPr>
          <p:cNvSpPr/>
          <p:nvPr/>
        </p:nvSpPr>
        <p:spPr>
          <a:xfrm>
            <a:off x="7415868" y="2968654"/>
            <a:ext cx="3221373" cy="1258349"/>
          </a:xfrm>
          <a:prstGeom prst="rect">
            <a:avLst/>
          </a:prstGeom>
          <a:noFill/>
          <a:ln>
            <a:solidFill>
              <a:srgbClr val="008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게재된 콘텐츠 링크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5B34DA-0270-49D3-99B0-7D7DF1E1DE02}"/>
              </a:ext>
            </a:extLst>
          </p:cNvPr>
          <p:cNvSpPr/>
          <p:nvPr/>
        </p:nvSpPr>
        <p:spPr>
          <a:xfrm>
            <a:off x="528506" y="4578379"/>
            <a:ext cx="3221373" cy="1258349"/>
          </a:xfrm>
          <a:prstGeom prst="rect">
            <a:avLst/>
          </a:prstGeom>
          <a:solidFill>
            <a:srgbClr val="008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Non UNPK/Event</a:t>
            </a:r>
          </a:p>
          <a:p>
            <a:pPr algn="ctr"/>
            <a:r>
              <a:rPr lang="ko-KR" altLang="en-US" dirty="0"/>
              <a:t>일반 콘텐츠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91C7E0B-A21F-4065-9644-61179FBEAAD6}"/>
              </a:ext>
            </a:extLst>
          </p:cNvPr>
          <p:cNvSpPr/>
          <p:nvPr/>
        </p:nvSpPr>
        <p:spPr>
          <a:xfrm>
            <a:off x="3984770" y="4578379"/>
            <a:ext cx="3221373" cy="1258349"/>
          </a:xfrm>
          <a:prstGeom prst="rect">
            <a:avLst/>
          </a:prstGeom>
          <a:noFill/>
          <a:ln>
            <a:solidFill>
              <a:srgbClr val="008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사전 검수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294568C-7B25-405B-988C-F51685AA79B3}"/>
              </a:ext>
            </a:extLst>
          </p:cNvPr>
          <p:cNvSpPr/>
          <p:nvPr/>
        </p:nvSpPr>
        <p:spPr>
          <a:xfrm>
            <a:off x="7415868" y="4578379"/>
            <a:ext cx="3221373" cy="1258349"/>
          </a:xfrm>
          <a:prstGeom prst="rect">
            <a:avLst/>
          </a:prstGeom>
          <a:noFill/>
          <a:ln>
            <a:solidFill>
              <a:srgbClr val="008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Content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Submission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WIP </a:t>
            </a:r>
            <a:r>
              <a:rPr lang="ko-KR" altLang="en-US" sz="1400" dirty="0" err="1">
                <a:solidFill>
                  <a:schemeClr val="tx1"/>
                </a:solidFill>
              </a:rPr>
              <a:t>디스크립션</a:t>
            </a:r>
            <a:r>
              <a:rPr lang="ko-KR" altLang="en-US" sz="1400" dirty="0">
                <a:solidFill>
                  <a:schemeClr val="tx1"/>
                </a:solidFill>
              </a:rPr>
              <a:t> 카피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카피 초안</a:t>
            </a:r>
            <a:r>
              <a:rPr lang="en-US" altLang="ko-KR" sz="1400" dirty="0">
                <a:solidFill>
                  <a:schemeClr val="tx1"/>
                </a:solidFill>
              </a:rPr>
              <a:t>~</a:t>
            </a:r>
            <a:r>
              <a:rPr lang="ko-KR" altLang="en-US" sz="1400" dirty="0">
                <a:solidFill>
                  <a:schemeClr val="tx1"/>
                </a:solidFill>
              </a:rPr>
              <a:t>최종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주요 제품 정보 </a:t>
            </a:r>
            <a:r>
              <a:rPr lang="en-US" altLang="ko-KR" sz="1400" dirty="0">
                <a:solidFill>
                  <a:schemeClr val="tx1"/>
                </a:solidFill>
              </a:rPr>
              <a:t>(text </a:t>
            </a:r>
            <a:r>
              <a:rPr lang="ko-KR" altLang="en-US" sz="1400" dirty="0">
                <a:solidFill>
                  <a:schemeClr val="tx1"/>
                </a:solidFill>
              </a:rPr>
              <a:t>입력 </a:t>
            </a:r>
            <a:r>
              <a:rPr lang="en-US" altLang="ko-KR" sz="1400" dirty="0">
                <a:solidFill>
                  <a:schemeClr val="tx1"/>
                </a:solidFill>
              </a:rPr>
              <a:t>&amp; </a:t>
            </a:r>
            <a:r>
              <a:rPr lang="ko-KR" altLang="en-US" sz="1400" dirty="0" err="1">
                <a:solidFill>
                  <a:schemeClr val="tx1"/>
                </a:solidFill>
              </a:rPr>
              <a:t>플레이북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0000"/>
                </a:solidFill>
              </a:rPr>
              <a:t>*WIP </a:t>
            </a:r>
            <a:r>
              <a:rPr lang="ko-KR" altLang="en-US" sz="1400" dirty="0">
                <a:solidFill>
                  <a:srgbClr val="FF0000"/>
                </a:solidFill>
              </a:rPr>
              <a:t>영상</a:t>
            </a:r>
            <a:r>
              <a:rPr lang="en-US" altLang="ko-KR" sz="1400" dirty="0">
                <a:solidFill>
                  <a:srgbClr val="FF0000"/>
                </a:solidFill>
              </a:rPr>
              <a:t>/</a:t>
            </a:r>
            <a:r>
              <a:rPr lang="ko-KR" altLang="en-US" sz="1400" dirty="0">
                <a:solidFill>
                  <a:srgbClr val="FF0000"/>
                </a:solidFill>
              </a:rPr>
              <a:t>이미지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02C6E3-C25A-4379-8527-AE1DB3507045}"/>
              </a:ext>
            </a:extLst>
          </p:cNvPr>
          <p:cNvSpPr txBox="1"/>
          <p:nvPr/>
        </p:nvSpPr>
        <p:spPr>
          <a:xfrm>
            <a:off x="1485900" y="2568059"/>
            <a:ext cx="1190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/>
              <a:t>콘텐츠 분류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824018-9970-4129-9E98-6D14F78BD5F5}"/>
              </a:ext>
            </a:extLst>
          </p:cNvPr>
          <p:cNvSpPr txBox="1"/>
          <p:nvPr/>
        </p:nvSpPr>
        <p:spPr>
          <a:xfrm>
            <a:off x="5038725" y="2568059"/>
            <a:ext cx="1190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활용 시기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B75DD9-6FD8-44E1-98AD-26005106749A}"/>
              </a:ext>
            </a:extLst>
          </p:cNvPr>
          <p:cNvSpPr txBox="1"/>
          <p:nvPr/>
        </p:nvSpPr>
        <p:spPr>
          <a:xfrm>
            <a:off x="8429625" y="2568059"/>
            <a:ext cx="1190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입력 자료</a:t>
            </a:r>
          </a:p>
        </p:txBody>
      </p:sp>
    </p:spTree>
    <p:extLst>
      <p:ext uri="{BB962C8B-B14F-4D97-AF65-F5344CB8AC3E}">
        <p14:creationId xmlns:p14="http://schemas.microsoft.com/office/powerpoint/2010/main" val="33862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ADEE5-2007-40F3-BEB7-1B8CA8FA338A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OneKoreanOTF 400C"/>
                <a:ea typeface="SamsungOneKoreanOTF 400C"/>
                <a:cs typeface="Samsung Sharp Sans Medium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KoreanOTF 400C"/>
              <a:ea typeface="SamsungOneKoreanOTF 400C"/>
              <a:cs typeface="Samsung Sharp Sans Medium" pitchFamily="2" charset="0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Task</a:t>
            </a:r>
            <a:r>
              <a:rPr lang="ko-KR" altLang="en-US" dirty="0">
                <a:latin typeface="+mj-ea"/>
              </a:rPr>
              <a:t>│</a:t>
            </a:r>
            <a:endParaRPr lang="ko-KR" altLang="en-US" dirty="0">
              <a:latin typeface="Samsung SS Head Regular" pitchFamily="2" charset="0"/>
              <a:cs typeface="Samsung SS Head Regular" pitchFamily="2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latinLnBrk="0">
              <a:lnSpc>
                <a:spcPct val="100000"/>
              </a:lnSpc>
              <a:spcAft>
                <a:spcPts val="600"/>
              </a:spcAft>
            </a:pP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2. GEO </a:t>
            </a:r>
            <a:r>
              <a:rPr lang="ko-KR" altLang="en-US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검수 영역 </a:t>
            </a: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– Updated (YT)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기존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Description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외에도 하기 영역에 대한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GEO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솔루션 개발 가능할지 </a:t>
            </a:r>
            <a:endParaRPr lang="en-US" altLang="ko-KR" sz="1600" dirty="0">
              <a:solidFill>
                <a:srgbClr val="000000"/>
              </a:solidFill>
              <a:latin typeface="Samsung SS Body KR Regular" pitchFamily="2" charset="-127"/>
              <a:ea typeface="Samsung SS Body KR Regular" pitchFamily="2" charset="-127"/>
            </a:endParaRP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가능한 영역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및 가능하다면 아이템별 타임라인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대략의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ballpark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비용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(if any)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필요</a:t>
            </a:r>
            <a:endParaRPr lang="ko-KR" altLang="en-US" sz="1600" u="sng" kern="1200" dirty="0">
              <a:solidFill>
                <a:srgbClr val="000000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9425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940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52AC38A-E1D5-4130-9D57-F27AFF5A2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8758"/>
              </p:ext>
            </p:extLst>
          </p:nvPr>
        </p:nvGraphicFramePr>
        <p:xfrm>
          <a:off x="299720" y="2396888"/>
          <a:ext cx="11620500" cy="4108340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3137549474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1318083971"/>
                    </a:ext>
                  </a:extLst>
                </a:gridCol>
                <a:gridCol w="3235366">
                  <a:extLst>
                    <a:ext uri="{9D8B030D-6E8A-4147-A177-3AD203B41FA5}">
                      <a16:colId xmlns:a16="http://schemas.microsoft.com/office/drawing/2014/main" val="335508781"/>
                    </a:ext>
                  </a:extLst>
                </a:gridCol>
                <a:gridCol w="2574884">
                  <a:extLst>
                    <a:ext uri="{9D8B030D-6E8A-4147-A177-3AD203B41FA5}">
                      <a16:colId xmlns:a16="http://schemas.microsoft.com/office/drawing/2014/main" val="2689016211"/>
                    </a:ext>
                  </a:extLst>
                </a:gridCol>
              </a:tblGrid>
              <a:tr h="346758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플랫폼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점검요소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점검기준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Feasibility &amp; Timeline/Budget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88798"/>
                  </a:ext>
                </a:extLst>
              </a:tr>
              <a:tr h="377569">
                <a:tc rowSpan="12">
                  <a:txBody>
                    <a:bodyPr/>
                    <a:lstStyle/>
                    <a:p>
                      <a:pPr algn="ctr" rtl="0" fontAlgn="t"/>
                      <a:r>
                        <a:rPr lang="en-US" sz="1600" b="0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YouTube</a:t>
                      </a:r>
                    </a:p>
                    <a:p>
                      <a:pPr algn="ctr" rtl="0" fontAlgn="t"/>
                      <a:r>
                        <a:rPr lang="en-US" sz="1600" b="0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(Video / Shorts)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채널명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특정 키워드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 등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포함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의견 필요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660301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 소개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첫 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130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핵심 내용과 키워드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900" b="0" u="none" strike="noStrike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기능명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포함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의견 필요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96582"/>
                  </a:ext>
                </a:extLst>
              </a:tr>
              <a:tr h="7232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썸네일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글로벌과 동일 썸네일 사용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핵심주체를 노출하는 이미지와 함께 크고 명확한 텍스트 사용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고화질 썸네일 파일 사용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썸네일 이미지 파일 이름에 핵심 키워드 포함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영상</a:t>
                      </a: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링크 </a:t>
                      </a:r>
                      <a:r>
                        <a:rPr lang="ko-KR" altLang="en-US" sz="9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입력시</a:t>
                      </a:r>
                      <a:endParaRPr lang="en-US" altLang="ko-KR" sz="9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썸네일 제안 가능여부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65756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메타태그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특정 메타태그 포함하였는지 점검 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영상</a:t>
                      </a: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링크 및 카피 입력 시 </a:t>
                      </a:r>
                      <a:endParaRPr lang="en-US" altLang="ko-KR" sz="9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메타태그 제안 가능 여부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875694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타이틀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특정 키워드 포함 여부 점검 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영상</a:t>
                      </a: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링크 및 카피 입력 시</a:t>
                      </a:r>
                      <a:endParaRPr lang="en-US" altLang="ko-KR" sz="9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적절한 타이틀 제안 가능 여부</a:t>
                      </a:r>
                      <a:b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</a:b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삼성 구조를 지키는 선에서</a:t>
                      </a:r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)</a:t>
                      </a:r>
                      <a:endParaRPr lang="ko-KR" altLang="en-US" sz="9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014164"/>
                  </a:ext>
                </a:extLst>
              </a:tr>
              <a:tr h="3775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특정 구조 사용 여부 점검</a:t>
                      </a:r>
                      <a:br>
                        <a:rPr lang="ko-KR" alt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</a:br>
                      <a:r>
                        <a:rPr lang="en-US" sz="9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ex) Galaxy AI | Feature Name | Product Name | Samsung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200978"/>
                  </a:ext>
                </a:extLst>
              </a:tr>
              <a:tr h="3775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기능명과 같은 핵심 키워드를 최소 </a:t>
                      </a:r>
                      <a:r>
                        <a:rPr lang="en-US" altLang="ko-KR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</a:t>
                      </a:r>
                      <a:r>
                        <a:rPr lang="ko-KR" altLang="en-US" sz="9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개 이상 앞쪽에 배치하여 간결하고 명확하게 작성하였는지 여부</a:t>
                      </a:r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28245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디스크립션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게시내용 첫 문장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130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이내에 특정 키워드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기능명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포함 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개발 중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61437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1~2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개의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Q&amp;A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형식의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FAQ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추가 여부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1174"/>
                  </a:ext>
                </a:extLst>
              </a:tr>
              <a:tr h="3775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분 이상의 경우 </a:t>
                      </a:r>
                      <a:r>
                        <a:rPr lang="en-US" altLang="ko-KR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Timestamp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추가 여부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Timestamp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에 핵심 키워드</a:t>
                      </a:r>
                      <a:r>
                        <a:rPr lang="en-US" altLang="ko-KR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기능명</a:t>
                      </a:r>
                      <a:r>
                        <a:rPr lang="en-US" altLang="ko-KR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포함 여부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61496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How-to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영상의 경우 </a:t>
                      </a: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Step by Step </a:t>
                      </a:r>
                      <a:r>
                        <a:rPr lang="ko-KR" altLang="en-US" sz="900" b="0" u="none" strike="noStrike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내용 추가 여부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ko-KR" altLang="en-US" sz="9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310147"/>
                  </a:ext>
                </a:extLst>
              </a:tr>
              <a:tr h="204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자막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closed caption 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형식</a:t>
                      </a:r>
                      <a:r>
                        <a:rPr lang="en-US" altLang="ko-KR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SRT) </a:t>
                      </a:r>
                      <a:r>
                        <a:rPr lang="ko-KR" altLang="en-US" sz="9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자막 적용 여부</a:t>
                      </a:r>
                      <a:endParaRPr lang="ko-KR" altLang="en-US" sz="9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SRT </a:t>
                      </a:r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파일 유무 별도 수집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482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712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ADEE5-2007-40F3-BEB7-1B8CA8FA338A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OneKoreanOTF 400C"/>
                <a:ea typeface="SamsungOneKoreanOTF 400C"/>
                <a:cs typeface="Samsung Sharp Sans Medium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KoreanOTF 400C"/>
              <a:ea typeface="SamsungOneKoreanOTF 400C"/>
              <a:cs typeface="Samsung Sharp Sans Medium" pitchFamily="2" charset="0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Task</a:t>
            </a:r>
            <a:r>
              <a:rPr lang="ko-KR" altLang="en-US" dirty="0">
                <a:latin typeface="+mj-ea"/>
              </a:rPr>
              <a:t>│</a:t>
            </a:r>
            <a:endParaRPr lang="ko-KR" altLang="en-US" dirty="0">
              <a:latin typeface="Samsung SS Head Regular" pitchFamily="2" charset="0"/>
              <a:cs typeface="Samsung SS Head Regular" pitchFamily="2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latinLnBrk="0">
              <a:lnSpc>
                <a:spcPct val="100000"/>
              </a:lnSpc>
              <a:spcAft>
                <a:spcPts val="600"/>
              </a:spcAft>
            </a:pP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2. GEO </a:t>
            </a:r>
            <a:r>
              <a:rPr lang="ko-KR" altLang="en-US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검수 영역 </a:t>
            </a: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– Updated (IG)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기존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Description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외에도 하기 영역에 대한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GEO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솔루션 개발 가능할지 </a:t>
            </a:r>
            <a:endParaRPr lang="en-US" altLang="ko-KR" sz="1600" dirty="0">
              <a:solidFill>
                <a:srgbClr val="000000"/>
              </a:solidFill>
              <a:latin typeface="Samsung SS Body KR Regular" pitchFamily="2" charset="-127"/>
              <a:ea typeface="Samsung SS Body KR Regular" pitchFamily="2" charset="-127"/>
            </a:endParaRP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가능한 영역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및 가능하다면 아이템별 타임라인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대략의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ballpark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비용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(if any)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필요</a:t>
            </a:r>
            <a:endParaRPr lang="ko-KR" altLang="en-US" sz="1600" u="sng" kern="1200" dirty="0">
              <a:solidFill>
                <a:srgbClr val="000000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9425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940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52AC38A-E1D5-4130-9D57-F27AFF5A2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852230"/>
              </p:ext>
            </p:extLst>
          </p:nvPr>
        </p:nvGraphicFramePr>
        <p:xfrm>
          <a:off x="299720" y="2396888"/>
          <a:ext cx="11620500" cy="4155988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3137549474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1318083971"/>
                    </a:ext>
                  </a:extLst>
                </a:gridCol>
                <a:gridCol w="3361201">
                  <a:extLst>
                    <a:ext uri="{9D8B030D-6E8A-4147-A177-3AD203B41FA5}">
                      <a16:colId xmlns:a16="http://schemas.microsoft.com/office/drawing/2014/main" val="335508781"/>
                    </a:ext>
                  </a:extLst>
                </a:gridCol>
                <a:gridCol w="2449049">
                  <a:extLst>
                    <a:ext uri="{9D8B030D-6E8A-4147-A177-3AD203B41FA5}">
                      <a16:colId xmlns:a16="http://schemas.microsoft.com/office/drawing/2014/main" val="2689016211"/>
                    </a:ext>
                  </a:extLst>
                </a:gridCol>
              </a:tblGrid>
              <a:tr h="306071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플랫폼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점검요소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점검기준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Feasibility &amp; Timeline/Budget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88798"/>
                  </a:ext>
                </a:extLst>
              </a:tr>
              <a:tr h="333267">
                <a:tc rowSpan="11">
                  <a:txBody>
                    <a:bodyPr/>
                    <a:lstStyle/>
                    <a:p>
                      <a:pPr algn="ctr" rtl="0" fontAlgn="t"/>
                      <a:r>
                        <a:rPr lang="en-US" sz="1600" b="0" u="none" strike="noStrike" kern="1200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Instagram</a:t>
                      </a:r>
                    </a:p>
                    <a:p>
                      <a:pPr algn="ctr" rtl="0" fontAlgn="t"/>
                      <a:r>
                        <a:rPr lang="en-US" sz="1600" b="0" u="none" strike="noStrike" kern="1200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(Video / Image)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Setting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외부 검색을 위한 계정 인덱싱 활성화 여부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660301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채널명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특정 키워드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 등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조합으로 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30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구성 여부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의견 필요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96582"/>
                  </a:ext>
                </a:extLst>
              </a:tr>
              <a:tr h="3298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 소개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 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 키워드 포함 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150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작성 여부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의견 필요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65756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외부 링크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공식 웹사이트 포함하여 최대 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5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개 링크 연결 여부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875694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Alt text</a:t>
                      </a:r>
                      <a:endParaRPr 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사용여부 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영상</a:t>
                      </a:r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링크 및 카피 입력 시 </a:t>
                      </a:r>
                      <a:endParaRPr lang="en-US" altLang="ko-KR" sz="10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Alt text 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제안 가능 여부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014164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→ 특정 키워드 사용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inherit"/>
                          <a:ea typeface="samsungonekorean 500" panose="020B0603030303020204" pitchFamily="50" charset="-127"/>
                        </a:rPr>
                        <a:t> 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장면설명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키워드 포함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150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t"/>
                      <a:endParaRPr 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200978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자막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closed caption toggle-on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옵션 활성화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28245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디스크립션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첫 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125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글자에 핵심메시지와 키워드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 등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), CTA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가 포함되는 구성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개발 중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61437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해시태그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공식 해시태그 사용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사용한 해시태그 개수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영상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링크 및 카피 입력 시</a:t>
                      </a:r>
                      <a:endParaRPr lang="en-US" altLang="ko-KR" sz="1000" b="0" u="none" strike="noStrike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해시태그 제안 가능 여부 </a:t>
                      </a:r>
                      <a:endParaRPr lang="en-US" altLang="ko-KR" sz="1000" b="0" u="none" strike="noStrike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  <a:p>
                      <a:pPr algn="ctr"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(GEO </a:t>
                      </a:r>
                      <a:r>
                        <a:rPr lang="ko-KR" altLang="en-US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서치에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 유효 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 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공식 해시태그 입력 </a:t>
                      </a:r>
                      <a:endParaRPr lang="en-US" altLang="ko-KR" sz="1000" b="0" u="none" strike="noStrike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  <a:p>
                      <a:pPr algn="ctr"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 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해시태그 개수 가이드 적용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1174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장소 태그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Location tag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사용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661496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algn="ctr" rtl="0" fontAlgn="t"/>
                      <a:endParaRPr lang="en-US" sz="1600" b="0" u="none" strike="noStrike" kern="1200" dirty="0">
                        <a:solidFill>
                          <a:srgbClr val="FFFFFF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kern="1200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인게이지먼트</a:t>
                      </a:r>
                      <a:r>
                        <a:rPr lang="ko-KR" altLang="en-US" sz="1000" b="0" u="none" strike="noStrike" kern="1200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댓글</a:t>
                      </a:r>
                    </a:p>
                  </a:txBody>
                  <a:tcPr marL="9525" marR="9525" marT="952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소비자 </a:t>
                      </a:r>
                      <a:r>
                        <a:rPr lang="ko-KR" alt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인게이지를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높일 수 있는 댓글 생성</a:t>
                      </a:r>
                    </a:p>
                  </a:txBody>
                  <a:tcPr marL="9525" marR="9525" marT="9525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인플루언서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콜랩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영상</a:t>
                      </a:r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링크 입력 시</a:t>
                      </a:r>
                      <a:endParaRPr lang="en-US" altLang="ko-KR" sz="10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ko-KR" altLang="en-US" sz="1000" b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인게이지먼트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댓글 생성 가능 여부</a:t>
                      </a:r>
                      <a:endParaRPr lang="en-US" altLang="ko-KR" sz="10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  <a:p>
                      <a:pPr algn="ctr" rtl="0" fontAlgn="t"/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(IG/LI/X)</a:t>
                      </a:r>
                      <a:endParaRPr lang="ko-KR" altLang="en-US" sz="1000" b="0" u="none" strike="noStrike" kern="1200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8858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79A553-68EE-43BA-A380-581DAA61E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34" y="654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9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ADEE5-2007-40F3-BEB7-1B8CA8FA338A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OneKoreanOTF 400C"/>
                <a:ea typeface="SamsungOneKoreanOTF 400C"/>
                <a:cs typeface="Samsung Sharp Sans Medium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KoreanOTF 400C"/>
              <a:ea typeface="SamsungOneKoreanOTF 400C"/>
              <a:cs typeface="Samsung Sharp Sans Medium" pitchFamily="2" charset="0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Task</a:t>
            </a:r>
            <a:r>
              <a:rPr lang="ko-KR" altLang="en-US" dirty="0">
                <a:latin typeface="+mj-ea"/>
              </a:rPr>
              <a:t>│</a:t>
            </a:r>
            <a:endParaRPr lang="ko-KR" altLang="en-US" dirty="0">
              <a:latin typeface="Samsung SS Head Regular" pitchFamily="2" charset="0"/>
              <a:cs typeface="Samsung SS Head Regular" pitchFamily="2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latinLnBrk="0">
              <a:lnSpc>
                <a:spcPct val="100000"/>
              </a:lnSpc>
              <a:spcAft>
                <a:spcPts val="600"/>
              </a:spcAft>
            </a:pP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2. GEO </a:t>
            </a:r>
            <a:r>
              <a:rPr lang="ko-KR" altLang="en-US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검수 영역 </a:t>
            </a: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– Updated (TT)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기존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Description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외에도 하기 영역에 대한 </a:t>
            </a:r>
            <a:r>
              <a:rPr lang="en-US" altLang="ko-KR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GEO </a:t>
            </a:r>
            <a:r>
              <a:rPr lang="ko-KR" altLang="en-US" sz="16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솔루션 개발 가능할지 </a:t>
            </a:r>
            <a:endParaRPr lang="en-US" altLang="ko-KR" sz="1600" dirty="0">
              <a:solidFill>
                <a:srgbClr val="000000"/>
              </a:solidFill>
              <a:latin typeface="Samsung SS Body KR Regular" pitchFamily="2" charset="-127"/>
              <a:ea typeface="Samsung SS Body KR Regular" pitchFamily="2" charset="-127"/>
            </a:endParaRP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가능한 영역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및 가능하다면 아이템별 타임라인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대략의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ballpark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비용 </a:t>
            </a:r>
            <a:r>
              <a:rPr lang="en-US" altLang="ko-KR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(if any) </a:t>
            </a:r>
            <a:r>
              <a:rPr lang="ko-KR" altLang="en-US" sz="1600" u="sng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필요</a:t>
            </a:r>
            <a:endParaRPr lang="ko-KR" altLang="en-US" sz="1600" u="sng" kern="1200" dirty="0">
              <a:solidFill>
                <a:srgbClr val="000000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9425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940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52AC38A-E1D5-4130-9D57-F27AFF5A2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56419"/>
              </p:ext>
            </p:extLst>
          </p:nvPr>
        </p:nvGraphicFramePr>
        <p:xfrm>
          <a:off x="299720" y="2396888"/>
          <a:ext cx="11620500" cy="2345863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3137549474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1318083971"/>
                    </a:ext>
                  </a:extLst>
                </a:gridCol>
                <a:gridCol w="3352812">
                  <a:extLst>
                    <a:ext uri="{9D8B030D-6E8A-4147-A177-3AD203B41FA5}">
                      <a16:colId xmlns:a16="http://schemas.microsoft.com/office/drawing/2014/main" val="335508781"/>
                    </a:ext>
                  </a:extLst>
                </a:gridCol>
                <a:gridCol w="2457438">
                  <a:extLst>
                    <a:ext uri="{9D8B030D-6E8A-4147-A177-3AD203B41FA5}">
                      <a16:colId xmlns:a16="http://schemas.microsoft.com/office/drawing/2014/main" val="2689016211"/>
                    </a:ext>
                  </a:extLst>
                </a:gridCol>
              </a:tblGrid>
              <a:tr h="306071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플랫폼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점검요소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점검기준</a:t>
                      </a:r>
                      <a:endParaRPr lang="ko-KR" altLang="en-US" sz="900" b="1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1" u="none" strike="noStrike" dirty="0">
                          <a:solidFill>
                            <a:srgbClr val="FFFF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Feasibility &amp; Timeline/Budget</a:t>
                      </a:r>
                    </a:p>
                  </a:txBody>
                  <a:tcPr marL="4366" marR="4366" marT="4366" marB="2095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88798"/>
                  </a:ext>
                </a:extLst>
              </a:tr>
              <a:tr h="315316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TikTok</a:t>
                      </a: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 </a:t>
                      </a:r>
                      <a:b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</a:b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(Video only)</a:t>
                      </a:r>
                    </a:p>
                  </a:txBody>
                  <a:tcPr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6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채널명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특정 키워드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,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 등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 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조합으로 </a:t>
                      </a:r>
                      <a:r>
                        <a:rPr lang="en-US" altLang="ko-KR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30</a:t>
                      </a:r>
                      <a:r>
                        <a:rPr lang="ko-KR" altLang="en-US" sz="1000" b="0" u="none" strike="noStrike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구성 여부</a:t>
                      </a:r>
                      <a:endParaRPr lang="ko-KR" altLang="en-US" sz="1000" b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의견 필요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96582"/>
                  </a:ext>
                </a:extLst>
              </a:tr>
              <a:tr h="3850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채널 소개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 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+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 키워드 포함 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150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 이내 작성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의견 필요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265756"/>
                  </a:ext>
                </a:extLst>
              </a:tr>
              <a:tr h="28607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외부 링크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공식 웹사이트 포함하여 최대 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5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개 링크 연결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875694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자막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closed caption toggle-on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옵션 활성화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별도 확인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28245"/>
                  </a:ext>
                </a:extLst>
              </a:tr>
              <a:tr h="18071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 err="1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디스크립션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- 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첫 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125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글자에 핵심메시지와 키워드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(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제품명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기능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브랜드명 등</a:t>
                      </a:r>
                      <a:r>
                        <a:rPr lang="en-US" altLang="ko-KR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), CTA</a:t>
                      </a:r>
                      <a:r>
                        <a:rPr lang="ko-KR" altLang="en-US" sz="1000" b="0" u="none" strike="noStrike" dirty="0">
                          <a:solidFill>
                            <a:srgbClr val="0000FF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가 포함되는 구성 여부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TT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도 솔루션 적용 가능한지 확인 필요</a:t>
                      </a:r>
                      <a:endParaRPr lang="ko-KR" altLang="en-US" sz="1000" b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61437"/>
                  </a:ext>
                </a:extLst>
              </a:tr>
              <a:tr h="333267">
                <a:tc vMerge="1">
                  <a:txBody>
                    <a:bodyPr/>
                    <a:lstStyle/>
                    <a:p>
                      <a:pPr algn="ctr" rtl="0" fontAlgn="t"/>
                      <a:endParaRPr lang="en-US" sz="1600" b="0" u="none" strike="noStrike" kern="1200" dirty="0">
                        <a:solidFill>
                          <a:srgbClr val="FFFFFF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  <a:cs typeface="+mn-c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(TBD) 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썸네일</a:t>
                      </a:r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커버 텍스트</a:t>
                      </a:r>
                    </a:p>
                  </a:txBody>
                  <a:tcPr marL="9525" marR="9525" marT="9525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0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  <a:cs typeface="+mn-cs"/>
                        </a:rPr>
                        <a:t>영상 표지에 키워드형 문구 직접 삽입 여부</a:t>
                      </a:r>
                    </a:p>
                  </a:txBody>
                  <a:tcPr marL="9525" marR="9525" marT="9525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영상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링크 및 카피 입력 시</a:t>
                      </a:r>
                      <a:endParaRPr lang="en-US" altLang="ko-KR" sz="1000" b="0" u="none" strike="noStrike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  <a:p>
                      <a:pPr algn="ctr"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썸네일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/</a:t>
                      </a:r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  <a:latin typeface="samsungonekorean 500" panose="020B0603030303020204" pitchFamily="50" charset="-127"/>
                          <a:ea typeface="samsungonekorean 500" panose="020B0603030303020204" pitchFamily="50" charset="-127"/>
                        </a:rPr>
                        <a:t>커버 텍스트 제안 가능 여부</a:t>
                      </a:r>
                      <a:endParaRPr lang="en-US" altLang="ko-KR" sz="1000" b="0" u="none" strike="noStrike" dirty="0">
                        <a:solidFill>
                          <a:srgbClr val="000000"/>
                        </a:solidFill>
                        <a:effectLst/>
                        <a:latin typeface="samsungonekorean 500" panose="020B0603030303020204" pitchFamily="50" charset="-127"/>
                        <a:ea typeface="samsungonekorean 500" panose="020B0603030303020204" pitchFamily="50" charset="-127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55273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179A553-68EE-43BA-A380-581DAA61E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34" y="6544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4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7ADEE5-2007-40F3-BEB7-1B8CA8FA338A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msungOneKoreanOTF 400C"/>
                <a:ea typeface="SamsungOneKoreanOTF 400C"/>
                <a:cs typeface="Samsung Sharp Sans Medium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msungOneKoreanOTF 400C"/>
              <a:ea typeface="SamsungOneKoreanOTF 400C"/>
              <a:cs typeface="Samsung Sharp Sans Medium" pitchFamily="2" charset="0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altLang="ko-KR" dirty="0">
                <a:latin typeface="Samsung SS Head KR Regular" pitchFamily="2" charset="-127"/>
                <a:ea typeface="Samsung SS Head KR Regular" pitchFamily="2" charset="-127"/>
              </a:rPr>
              <a:t>Task</a:t>
            </a:r>
            <a:r>
              <a:rPr lang="ko-KR" altLang="en-US" dirty="0">
                <a:latin typeface="+mj-ea"/>
              </a:rPr>
              <a:t>│</a:t>
            </a:r>
            <a:endParaRPr lang="ko-KR" altLang="en-US" dirty="0">
              <a:latin typeface="Samsung SS Head Regular" pitchFamily="2" charset="0"/>
              <a:cs typeface="Samsung SS Head Regular" pitchFamily="2" charset="0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latinLnBrk="0">
              <a:lnSpc>
                <a:spcPct val="100000"/>
              </a:lnSpc>
              <a:spcAft>
                <a:spcPts val="600"/>
              </a:spcAft>
            </a:pP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3. Final</a:t>
            </a:r>
            <a:r>
              <a:rPr lang="ko-KR" altLang="en-US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 </a:t>
            </a:r>
            <a:r>
              <a:rPr lang="en-US" altLang="ko-KR" dirty="0">
                <a:latin typeface="Samsung SS Head KR Bold" pitchFamily="2" charset="-127"/>
                <a:ea typeface="Samsung SS Head KR Bold" pitchFamily="2" charset="-127"/>
                <a:cs typeface="+mn-cs"/>
              </a:rPr>
              <a:t>Notes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Samsung SS Head KR Bold" pitchFamily="2" charset="-127"/>
              <a:ea typeface="Samsung SS Head KR Bold" pitchFamily="2" charset="-127"/>
              <a:cs typeface="+mn-cs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솔루션 사용을 위해 콘텐츠 제작팀에게 사전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사후 어떤 자료들을 </a:t>
            </a:r>
            <a:r>
              <a:rPr lang="ko-KR" altLang="en-US" sz="1600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요청해야하는지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정리</a:t>
            </a:r>
            <a:endParaRPr lang="en-US" altLang="ko-KR" sz="1600" kern="1200" dirty="0">
              <a:solidFill>
                <a:srgbClr val="000000"/>
              </a:solidFill>
              <a:latin typeface="Samsung SS Body KR Regular" pitchFamily="2" charset="-127"/>
              <a:ea typeface="Samsung SS Body KR Regular" pitchFamily="2" charset="-127"/>
            </a:endParaRP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해당 솔루션 개발을 위해 광고주로부터 </a:t>
            </a:r>
            <a:r>
              <a:rPr lang="ko-KR" altLang="en-US" sz="1600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수급해야하는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추가 자료 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(e.g. </a:t>
            </a:r>
            <a:r>
              <a:rPr lang="ko-KR" altLang="en-US" sz="1600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인게이지먼트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댓글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가이드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</a:t>
            </a:r>
          </a:p>
          <a:p>
            <a:pPr marL="285750" lvl="0" indent="-285750" latinLnBrk="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  <a:defRPr/>
            </a:pP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타임라인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/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비용 업데이트 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(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필요시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 – 2/12(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목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 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베타 버전 오픈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, 2/13(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금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 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광고주 공유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, 2/23(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월</a:t>
            </a:r>
            <a:r>
              <a:rPr lang="en-US" altLang="ko-KR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) </a:t>
            </a:r>
            <a:r>
              <a:rPr lang="ko-KR" altLang="en-US" sz="1600" kern="1200" dirty="0" err="1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테스트런</a:t>
            </a:r>
            <a:r>
              <a:rPr lang="ko-KR" altLang="en-US" sz="1600" kern="1200" dirty="0">
                <a:solidFill>
                  <a:srgbClr val="000000"/>
                </a:solidFill>
                <a:latin typeface="Samsung SS Body KR Regular" pitchFamily="2" charset="-127"/>
                <a:ea typeface="Samsung SS Body KR Regular" pitchFamily="2" charset="-127"/>
              </a:rPr>
              <a:t> 및 실사용 시작</a:t>
            </a:r>
            <a:endParaRPr lang="ko-KR" altLang="en-US" sz="1600" kern="1200" dirty="0">
              <a:solidFill>
                <a:srgbClr val="000000"/>
              </a:solidFill>
              <a:latin typeface="Samsung SS Body KR Bold" pitchFamily="2" charset="-127"/>
              <a:ea typeface="Samsung SS Body KR Bold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79425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1940" y="1183082"/>
            <a:ext cx="184731" cy="784830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500" b="0" i="0" u="none" strike="noStrike" kern="1200" cap="none" spc="0" normalizeH="0" baseline="0" noProof="0" dirty="0">
              <a:ln>
                <a:solidFill>
                  <a:srgbClr val="BFBFBF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59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US" altLang="ko-KR" sz="3200" dirty="0">
                <a:latin typeface="+mn-lt"/>
              </a:rPr>
              <a:t>EOD.</a:t>
            </a:r>
            <a:endParaRPr lang="ko-KR" alt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80163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85FD"/>
      </a:accent1>
      <a:accent2>
        <a:srgbClr val="0066F3"/>
      </a:accent2>
      <a:accent3>
        <a:srgbClr val="D6DCE5"/>
      </a:accent3>
      <a:accent4>
        <a:srgbClr val="141D3A"/>
      </a:accent4>
      <a:accent5>
        <a:srgbClr val="97D653"/>
      </a:accent5>
      <a:accent6>
        <a:srgbClr val="FFB546"/>
      </a:accent6>
      <a:hlink>
        <a:srgbClr val="0563C1"/>
      </a:hlink>
      <a:folHlink>
        <a:srgbClr val="FF4337"/>
      </a:folHlink>
    </a:clrScheme>
    <a:fontScheme name="사용자 지정 4">
      <a:majorFont>
        <a:latin typeface="Samsung Sharp Sans Bold"/>
        <a:ea typeface="SamsungOneKoreanOTF 700C"/>
        <a:cs typeface=""/>
      </a:majorFont>
      <a:minorFont>
        <a:latin typeface="Samsung Sharp Sans Regular"/>
        <a:ea typeface="SamsungOneKoreanOTF 400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86FA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896</Words>
  <Application>Microsoft Office PowerPoint</Application>
  <PresentationFormat>와이드스크린</PresentationFormat>
  <Paragraphs>161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4" baseType="lpstr">
      <vt:lpstr>inherit</vt:lpstr>
      <vt:lpstr>Samsung SS Body KR Bold</vt:lpstr>
      <vt:lpstr>Samsung SS Body KR Regular</vt:lpstr>
      <vt:lpstr>Samsung SS Head KR Bold</vt:lpstr>
      <vt:lpstr>Samsung SS Head KR Regular</vt:lpstr>
      <vt:lpstr>SamsungOneKorean 500</vt:lpstr>
      <vt:lpstr>SamsungOneKoreanOTF 400</vt:lpstr>
      <vt:lpstr>SamsungOneKoreanOTF 400C</vt:lpstr>
      <vt:lpstr>SamsungOneKoreanOTF 700C</vt:lpstr>
      <vt:lpstr>맑은 고딕</vt:lpstr>
      <vt:lpstr>프리젠테이션 7 Bold</vt:lpstr>
      <vt:lpstr>Arial</vt:lpstr>
      <vt:lpstr>Samsung Sharp Sans Bold</vt:lpstr>
      <vt:lpstr>Samsung Sharp Sans Regular</vt:lpstr>
      <vt:lpstr>Samsung SS Head Bold</vt:lpstr>
      <vt:lpstr>Samsung SS Head Regular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Hee Eun Kim</dc:creator>
  <cp:lastModifiedBy>CHEIL</cp:lastModifiedBy>
  <cp:revision>426</cp:revision>
  <dcterms:created xsi:type="dcterms:W3CDTF">2025-11-17T11:41:36Z</dcterms:created>
  <dcterms:modified xsi:type="dcterms:W3CDTF">2026-01-29T09:35:04Z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